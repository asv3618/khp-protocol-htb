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92" r:id="rId5"/>
    <p:sldId id="294" r:id="rId6"/>
    <p:sldId id="277" r:id="rId7"/>
    <p:sldId id="295" r:id="rId8"/>
    <p:sldId id="288" r:id="rId9"/>
    <p:sldId id="300" r:id="rId10"/>
    <p:sldId id="301" r:id="rId11"/>
    <p:sldId id="293" r:id="rId12"/>
    <p:sldId id="304" r:id="rId13"/>
    <p:sldId id="296" r:id="rId14"/>
    <p:sldId id="297" r:id="rId15"/>
    <p:sldId id="298" r:id="rId16"/>
    <p:sldId id="302" r:id="rId17"/>
    <p:sldId id="303" r:id="rId18"/>
    <p:sldId id="285" r:id="rId19"/>
    <p:sldId id="299" r:id="rId20"/>
    <p:sldId id="284" r:id="rId21"/>
    <p:sldId id="28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95" d="100"/>
          <a:sy n="95" d="100"/>
        </p:scale>
        <p:origin x="206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>
                <a:latin typeface="Times New Roman" panose="02020603050405020304" pitchFamily="18" charset="0"/>
              </a:rPr>
              <a:t>4/25/2025</a:t>
            </a:fld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889056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FBAF-DEC7-8AEA-70D5-19E9033B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EE073-AD5C-C6DD-F24D-137E9690A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B80CB-8812-075C-DBB6-A60E114D8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E1B1A-7137-CFAF-8E0C-0801659A6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83016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5D0AB-3298-7FFB-3C0E-498913BF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65936-29AC-E951-3699-F7C7C958D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72722-D4A1-E6F7-BA21-0A9AEA47E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1EB9-25AE-2683-6325-B9152EF6D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93371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1CBED-590B-32F3-FEBD-E15C00A6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D6E9F-EFBC-7AC2-38D5-4619DB091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4DEC4-0509-C4F8-92C8-7A2FFFB25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16F37-F079-CD68-115E-FA4D2D093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7758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245785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6560-48F4-A7E2-AF09-A527D4E8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B5EF5-B2A2-E696-73DA-95559FDB4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B87CA-807D-7BD0-1903-A2A0A20B5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6A448-9F5B-6221-7299-0E91E5A33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11901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84497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Times New Roman" panose="02020603050405020304" pitchFamily="18" charset="0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Times New Roman" panose="02020603050405020304" pitchFamily="18" charset="0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hanetilton.com/cybersecurity-and-you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43" y="1637478"/>
            <a:ext cx="5678511" cy="205744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KHP Protocol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53237" y="3771127"/>
            <a:ext cx="4698851" cy="1721442"/>
          </a:xfrm>
        </p:spPr>
        <p:txBody>
          <a:bodyPr/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– 8 :</a:t>
            </a:r>
          </a:p>
          <a:p>
            <a:r>
              <a:rPr lang="en-US" sz="1800" b="0" i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Shajith Vignesh Ananthaneni</a:t>
            </a:r>
            <a:br>
              <a:rPr lang="en-US" sz="1800" b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Venkata Chaitanya Reddy Koppolu</a:t>
            </a:r>
            <a:br>
              <a:rPr lang="en-US" sz="1800" b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 Charitha Bandaru</a:t>
            </a:r>
            <a:br>
              <a:rPr lang="en-US" sz="1800" b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Tharun </a:t>
            </a:r>
            <a:r>
              <a:rPr lang="en-US" sz="1800" b="0" i="0" kern="1200" dirty="0" err="1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Gunishetti</a:t>
            </a: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i="0" dirty="0">
              <a:effectLst/>
            </a:endParaRP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5" name="Picture Placeholder 4" descr="A blue lock with a keyhole&#10;&#10;AI-generated content may be incorrect.">
            <a:extLst>
              <a:ext uri="{FF2B5EF4-FFF2-40B4-BE49-F238E27FC236}">
                <a16:creationId xmlns:a16="http://schemas.microsoft.com/office/drawing/2014/main" id="{29F517B2-E6A4-D023-8A69-DF9C5207D678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6518" r="651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988" y="507685"/>
            <a:ext cx="6157576" cy="1688906"/>
          </a:xfrm>
        </p:spPr>
        <p:txBody>
          <a:bodyPr/>
          <a:lstStyle/>
          <a:p>
            <a:r>
              <a:rPr lang="en-US" sz="4000" b="1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Project Motivation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58690" y="2309560"/>
            <a:ext cx="6248678" cy="3908360"/>
          </a:xfrm>
        </p:spPr>
        <p:txBody>
          <a:bodyPr/>
          <a:lstStyle/>
          <a:p>
            <a:pPr marL="342900" indent="-342900" algn="l" rtl="0" eaLnBrk="1" latinLnBrk="0" hangingPunct="1">
              <a:spcBef>
                <a:spcPts val="1000"/>
              </a:spcBef>
              <a:buClrTx/>
              <a:buSzPts val="2400"/>
              <a:buFont typeface="Arial" panose="020B0604020202020204" pitchFamily="34" charset="0"/>
              <a:buChar char="•"/>
            </a:pPr>
            <a:r>
              <a:rPr lang="en-US" sz="2000" b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Heap-based buffer overflows remain a powerful attack vector in binary exploitation.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KHP Server (Keys Holder Protocol) mimics real-world key management systems.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  <a:r>
              <a:rPr lang="en-US" sz="2000" b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Identify and exploit a vulnerability in the server’s key handling to gain unauthorized shell access.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kern="1200" dirty="0">
                <a:solidFill>
                  <a:srgbClr val="0F25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 heap layout manipulation, memory corruption, and privilege escalation techniques.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10345-FF40-D90A-5C88-A462A10E487B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33236" y="2558474"/>
            <a:ext cx="2909455" cy="230909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7350B3-65BD-CDF3-CAE1-00326CBC5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4455" y="2028615"/>
            <a:ext cx="735892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Analysis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Reverse engineering to explore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khp_server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behavior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Exploit Development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Python +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pwntools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Automates the exploit chain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Heap Debugging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GDB with custom heap visualization.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Platform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Kali Linux &amp; Parrot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Tools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netcat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manual command tests,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hexdump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payload crafting</a:t>
            </a:r>
          </a:p>
        </p:txBody>
      </p:sp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7791590" cy="12048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KHP Server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2F6C47E2-A225-6250-ECF2-721E7A47A426}"/>
              </a:ext>
            </a:extLst>
          </p:cNvPr>
          <p:cNvSpPr>
            <a:spLocks noGrp="1" noChangeArrowheads="1"/>
          </p:cNvSpPr>
          <p:nvPr>
            <p:ph type="body" sz="quarter" idx="28"/>
          </p:nvPr>
        </p:nvSpPr>
        <p:spPr bwMode="auto">
          <a:xfrm>
            <a:off x="3461761" y="2247602"/>
            <a:ext cx="81910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C-based server that spawns threads per client.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custom commands over TCP to manage authentication keys.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Vulnerable function: REKE → processes user input without bounds checking.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Commands: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REKE: Register key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username:role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password)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DEKE: Delete key (by ID)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RLDB: List keys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AUTH: Authenticate using a key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EXEC: Execute command (post-authentication)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375" y="853791"/>
            <a:ext cx="9823998" cy="1325563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Heap Behavior &amp; Heap Layout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56A83DD-E359-26F6-ED58-1A4CA23F2441}"/>
              </a:ext>
            </a:extLst>
          </p:cNvPr>
          <p:cNvSpPr>
            <a:spLocks noGrp="1" noChangeArrowheads="1"/>
          </p:cNvSpPr>
          <p:nvPr>
            <p:ph type="body" sz="quarter" idx="28"/>
          </p:nvPr>
        </p:nvSpPr>
        <p:spPr bwMode="auto">
          <a:xfrm>
            <a:off x="943224" y="2290422"/>
            <a:ext cx="1070953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Heap Basics: Dynamic memory is allocated via malloc() and reused.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is not zeroed on free → stale data remains exploitable.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Corrupting metadata of freed chunks can lead to control over future allocations.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Target: overwrite key structure used during AUTH command.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3 keys using REKE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Reloading the D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using RLDB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3rd key with DEKE(3) – creates free chunk.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Overflow from a new REKE call into this freed region.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Injects fake username/role data that server interprets as a real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A3708C-23C9-24B6-9129-7B82D146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423" y="366765"/>
            <a:ext cx="9799153" cy="61244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FF6A52-D780-8E14-1CDB-B3CB3757E378}"/>
              </a:ext>
            </a:extLst>
          </p:cNvPr>
          <p:cNvSpPr txBox="1"/>
          <p:nvPr/>
        </p:nvSpPr>
        <p:spPr>
          <a:xfrm>
            <a:off x="4408461" y="0"/>
            <a:ext cx="2781531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b="1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RegisterNewKey</a:t>
            </a:r>
            <a:r>
              <a:rPr lang="en-US" sz="18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277833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A2533-7E35-4E0B-599A-61B9E4B6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001C04-B988-9B29-5A8A-A3277BEFD43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95E4D-67D0-8A6C-C04F-34175138BF5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85B8BC-EE4E-DEFC-4B84-18FA7A3A54FD}"/>
              </a:ext>
            </a:extLst>
          </p:cNvPr>
          <p:cNvSpPr txBox="1"/>
          <p:nvPr/>
        </p:nvSpPr>
        <p:spPr>
          <a:xfrm>
            <a:off x="325554" y="233070"/>
            <a:ext cx="3717684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Connecting to Sever</a:t>
            </a:r>
            <a:endParaRPr lang="en-US" sz="32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8FAC35-F6FB-AF24-32AB-00BA765714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99" y="972337"/>
            <a:ext cx="7721409" cy="183960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7368FA-4F5C-CF72-C021-4CD2184BEF82}"/>
              </a:ext>
            </a:extLst>
          </p:cNvPr>
          <p:cNvSpPr txBox="1"/>
          <p:nvPr/>
        </p:nvSpPr>
        <p:spPr>
          <a:xfrm>
            <a:off x="427541" y="2966438"/>
            <a:ext cx="2642839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Viewing Heap</a:t>
            </a:r>
            <a:endParaRPr lang="en-US" sz="32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F0F667-51B2-3549-15DA-C1BC987ABB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98" y="3512964"/>
            <a:ext cx="7721409" cy="2908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7515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413" y="1201350"/>
            <a:ext cx="6599429" cy="74752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Discovery</a:t>
            </a:r>
          </a:p>
        </p:txBody>
      </p:sp>
      <p:pic>
        <p:nvPicPr>
          <p:cNvPr id="26" name="Picture Placeholder 25" descr="Layout of website design sketches on white paper">
            <a:extLst>
              <a:ext uri="{FF2B5EF4-FFF2-40B4-BE49-F238E27FC236}">
                <a16:creationId xmlns:a16="http://schemas.microsoft.com/office/drawing/2014/main" id="{4CBFAFCC-A306-4EA1-BEE3-7557795635A8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43AAE-D428-CAAE-DCAF-0266FEEEAC7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1A199F1-232C-E549-E38C-1C125A80CD25}"/>
              </a:ext>
            </a:extLst>
          </p:cNvPr>
          <p:cNvSpPr>
            <a:spLocks noGrp="1" noChangeArrowheads="1"/>
          </p:cNvSpPr>
          <p:nvPr>
            <p:ph type="body" sz="quarter" idx="28"/>
          </p:nvPr>
        </p:nvSpPr>
        <p:spPr bwMode="auto">
          <a:xfrm>
            <a:off x="4070413" y="2409805"/>
            <a:ext cx="746017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Discovered through static analysis 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or similar unsafe memory copy with user-controlled input.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in how REKE copies data into a heap-allocated buffer.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boundary check = heap overflow.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Adjacent heap chunks can be corrupted (use-after-free, fake object injection).</a:t>
            </a:r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6333-676F-CCBF-0C18-432F70676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51AAD-5295-DA9D-5725-0F576A92898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C6DC5-4664-6159-DD51-3C53CE0B8F2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D0917D-BCC0-846D-5E75-277443E4E8DF}"/>
              </a:ext>
            </a:extLst>
          </p:cNvPr>
          <p:cNvSpPr txBox="1"/>
          <p:nvPr/>
        </p:nvSpPr>
        <p:spPr>
          <a:xfrm>
            <a:off x="939131" y="528038"/>
            <a:ext cx="2635658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Deleted Entry</a:t>
            </a:r>
            <a:endParaRPr lang="en-US" sz="32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2B42F-B442-A1E2-16AE-0CF125825E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43" y="1720361"/>
            <a:ext cx="6960802" cy="4555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265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D222-5D19-D984-3710-743D1FFF5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37ECAD-1F6D-1702-1CE2-95441F26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178" y="507685"/>
            <a:ext cx="6450385" cy="1688906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Crafting the Exploit Payload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266306-87D1-E26D-9548-01A3067B6C8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58690" y="2309560"/>
            <a:ext cx="6248678" cy="390836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Exploit string: REKE('CHA', ‘ITA', b'\x01'*0x70 +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b'chaita:admin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abcdef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\x01 padding causes the overflow.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string simulates a valid key in adjacent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Payload length calculated based on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Ghidra's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buffer sizes and struct layout.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F493D-84A2-EE01-D6BC-688D76C150BA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E61BE-4376-7A5D-1744-EEF5E848FB8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953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170FB-FF99-A1B0-3249-82DCD9B6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EA37019-658B-41DA-0193-CAF1E3165BB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45309" y="2235200"/>
            <a:ext cx="3768437" cy="2826328"/>
          </a:xfrm>
        </p:spPr>
        <p:txBody>
          <a:bodyPr/>
          <a:lstStyle/>
          <a:p>
            <a:r>
              <a:rPr lang="en-US" sz="3600" dirty="0"/>
              <a:t>Exploit </a:t>
            </a:r>
          </a:p>
          <a:p>
            <a:r>
              <a:rPr lang="en-US" sz="3600" dirty="0"/>
              <a:t>Chain Walkthrough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62B3C-1A73-1A80-CFCA-26BD32133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13746" y="305069"/>
            <a:ext cx="677949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Establish TCP connection to the server.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Register 3 normal keys.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Delete 3rd key → creates hole in heap.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Send crafted overflow payload with fake metadata.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Authenticate using corrupted key ID (often key 1).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If successful, send EXEC to obtain interactive shell.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5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2365-754E-59B0-098D-BE09A1E36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A0BF0-5BE5-A252-4ACE-7E8591A3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46" y="234475"/>
            <a:ext cx="7791590" cy="1204822"/>
          </a:xfrm>
        </p:spPr>
        <p:txBody>
          <a:bodyPr/>
          <a:lstStyle/>
          <a:p>
            <a:r>
              <a:rPr lang="en-US" dirty="0"/>
              <a:t>Code Structure &amp; Debugging the Heap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FF441-EDCE-2B86-2F26-50B56CEC6B3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5994C5AA-0A48-E156-FF62-76A7F869FD78}"/>
              </a:ext>
            </a:extLst>
          </p:cNvPr>
          <p:cNvSpPr>
            <a:spLocks noGrp="1" noChangeArrowheads="1"/>
          </p:cNvSpPr>
          <p:nvPr>
            <p:ph type="body" sz="quarter" idx="28"/>
          </p:nvPr>
        </p:nvSpPr>
        <p:spPr bwMode="auto">
          <a:xfrm>
            <a:off x="3186546" y="1671115"/>
            <a:ext cx="9158572" cy="4435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KeyExploiter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 includes: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register_key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delete_key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authorize(),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execute_command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prepare_exploit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orchestrates the full attack.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pwntools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’ remote() for low-level control of TCP socket.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Built-in logging for debugging and output tracing.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600" dirty="0"/>
              <a:t>GDB Insights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Set breakpoints after DEKE and REKE.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Visualized heap before and after overflow.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Confirmed that overwritten chunk data matches injected payload.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Observed successful memory corruption that bypasses auth check.</a:t>
            </a:r>
          </a:p>
        </p:txBody>
      </p:sp>
    </p:spTree>
    <p:extLst>
      <p:ext uri="{BB962C8B-B14F-4D97-AF65-F5344CB8AC3E}">
        <p14:creationId xmlns:p14="http://schemas.microsoft.com/office/powerpoint/2010/main" val="2800220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8555-B173-9B47-DE2F-7E0EB313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E3191-41D1-92EC-8E12-28366D0835A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01372-B615-7BD1-1C15-7694195DFA7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0418C-3F2F-9BB1-36A8-31CA7814B7A4}"/>
              </a:ext>
            </a:extLst>
          </p:cNvPr>
          <p:cNvSpPr txBox="1"/>
          <p:nvPr/>
        </p:nvSpPr>
        <p:spPr>
          <a:xfrm>
            <a:off x="200215" y="121112"/>
            <a:ext cx="655455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Breakpoints after DEKE and REKE</a:t>
            </a:r>
            <a:endParaRPr lang="en-US" sz="3200" b="1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F12E9-3607-1463-F628-277681B458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91" y="841836"/>
            <a:ext cx="9310492" cy="17467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8C47D3-3952-8A82-439B-422245125A74}"/>
              </a:ext>
            </a:extLst>
          </p:cNvPr>
          <p:cNvSpPr txBox="1"/>
          <p:nvPr/>
        </p:nvSpPr>
        <p:spPr>
          <a:xfrm>
            <a:off x="408709" y="2658752"/>
            <a:ext cx="5687291" cy="13234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Overflow into adjacent chunk.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4800" b="1" dirty="0">
              <a:latin typeface="Times New Roman" panose="02020603050405020304" pitchFamily="18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DC3F43-7722-E565-2216-B1FD9CB615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92" y="3320472"/>
            <a:ext cx="9310492" cy="33431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551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B088-F1B2-1035-F08F-1F8057F4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44C286-FBC1-3CF5-4023-8880FF1DAED8}"/>
              </a:ext>
            </a:extLst>
          </p:cNvPr>
          <p:cNvSpPr txBox="1"/>
          <p:nvPr/>
        </p:nvSpPr>
        <p:spPr>
          <a:xfrm>
            <a:off x="221393" y="430242"/>
            <a:ext cx="4775666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3200" b="1" dirty="0">
                <a:latin typeface="Times New Roman" panose="02020603050405020304" pitchFamily="18" charset="0"/>
                <a:ea typeface="微软雅黑"/>
                <a:cs typeface="Posterama" panose="020B0504020200020000" pitchFamily="34" charset="0"/>
              </a:rPr>
              <a:t>Payload Execution &amp; Flag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4B15ED-92CD-7825-DDFD-0DDC964C4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970" y="3232483"/>
            <a:ext cx="4739406" cy="29621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CE5943-CEC6-3F27-3468-743DF0257611}"/>
              </a:ext>
            </a:extLst>
          </p:cNvPr>
          <p:cNvSpPr txBox="1"/>
          <p:nvPr/>
        </p:nvSpPr>
        <p:spPr>
          <a:xfrm>
            <a:off x="3475730" y="6328611"/>
            <a:ext cx="5240537" cy="64633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Flag.txt: </a:t>
            </a:r>
            <a:r>
              <a:rPr lang="pt-BR" sz="18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HTB{4_0_D4Y_70_H4CK_7H3_W0RLD}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800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B9D8EE-CC3C-8579-F480-CA1201628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8" y="1084848"/>
            <a:ext cx="6489032" cy="405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5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17942FE-65D3-7C03-B361-8DF125B8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&amp; Exploit Success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BD10CEB-2241-4246-B0F4-96E0DB642C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77908" y="3500507"/>
            <a:ext cx="2128247" cy="1205058"/>
          </a:xfrm>
        </p:spPr>
        <p:txBody>
          <a:bodyPr/>
          <a:lstStyle/>
          <a:p>
            <a:r>
              <a:rPr lang="en-US" sz="2400" dirty="0"/>
              <a:t>Corrupted key structure is recognized as valid → authentication bypass.</a:t>
            </a:r>
            <a:endParaRPr lang="zh-CN" altLang="en-US" sz="2400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D441F7A-4624-45D2-AE88-EEBA65185E6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107230" y="4199166"/>
            <a:ext cx="1877575" cy="506399"/>
          </a:xfrm>
        </p:spPr>
        <p:txBody>
          <a:bodyPr/>
          <a:lstStyle/>
          <a:p>
            <a:r>
              <a:rPr lang="en-US" sz="2400" dirty="0"/>
              <a:t>Shell spawned with elevated privileges.</a:t>
            </a:r>
            <a:endParaRPr lang="zh-CN" altLang="en-US" sz="2400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EF68FE0-ADE3-4AB5-AC04-6C029B601AB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316183" y="4280495"/>
            <a:ext cx="2206058" cy="1291486"/>
          </a:xfrm>
        </p:spPr>
        <p:txBody>
          <a:bodyPr/>
          <a:lstStyle/>
          <a:p>
            <a:r>
              <a:rPr lang="en-US" sz="2400" dirty="0"/>
              <a:t>Mimics real-world remote attack scenarios (CVE-style exploit).</a:t>
            </a:r>
            <a:endParaRPr lang="zh-CN" alt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04519-33C1-DA61-9858-3858F30C7808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DD1EA-9A0C-9303-AD79-5DAF401390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7853239-4DBA-888B-7279-90D520FA449D}"/>
              </a:ext>
            </a:extLst>
          </p:cNvPr>
          <p:cNvSpPr>
            <a:spLocks noGrp="1" noChangeArrowheads="1"/>
          </p:cNvSpPr>
          <p:nvPr>
            <p:ph type="body" sz="quarter" idx="39"/>
          </p:nvPr>
        </p:nvSpPr>
        <p:spPr bwMode="auto">
          <a:xfrm>
            <a:off x="4004201" y="2135849"/>
            <a:ext cx="220605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Achieved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remote code execution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EXEC command. </a:t>
            </a:r>
          </a:p>
        </p:txBody>
      </p:sp>
    </p:spTree>
    <p:extLst>
      <p:ext uri="{BB962C8B-B14F-4D97-AF65-F5344CB8AC3E}">
        <p14:creationId xmlns:p14="http://schemas.microsoft.com/office/powerpoint/2010/main" val="3760906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7841-29DA-185A-7D5D-DBD9CADC5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3182C279-9612-04D2-C5A0-D99EA6CD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413" y="653684"/>
            <a:ext cx="6599429" cy="747523"/>
          </a:xfrm>
        </p:spPr>
        <p:txBody>
          <a:bodyPr/>
          <a:lstStyle/>
          <a:p>
            <a:r>
              <a:rPr lang="en-US" dirty="0"/>
              <a:t>Security Implications &amp; Preventive Measures</a:t>
            </a:r>
          </a:p>
        </p:txBody>
      </p:sp>
      <p:pic>
        <p:nvPicPr>
          <p:cNvPr id="26" name="Picture Placeholder 25" descr="Layout of website design sketches on white paper">
            <a:extLst>
              <a:ext uri="{FF2B5EF4-FFF2-40B4-BE49-F238E27FC236}">
                <a16:creationId xmlns:a16="http://schemas.microsoft.com/office/drawing/2014/main" id="{78D4B0CA-FD93-CB55-1CB3-2F6572B714DF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BA915-9060-A947-7432-E6C8B2962E53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EBD75AE-7C2E-394E-67C3-73197FDBABAF}"/>
              </a:ext>
            </a:extLst>
          </p:cNvPr>
          <p:cNvSpPr>
            <a:spLocks noGrp="1" noChangeArrowheads="1"/>
          </p:cNvSpPr>
          <p:nvPr>
            <p:ph type="body" sz="quarter" idx="28"/>
          </p:nvPr>
        </p:nvSpPr>
        <p:spPr bwMode="auto">
          <a:xfrm>
            <a:off x="4070413" y="1401207"/>
            <a:ext cx="746017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Demonstrates critical importance of: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 validation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Memory safety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coding practices in C/C++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bounds checking → complete compromise of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Replace unsafe functions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strcpy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sprintf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with safer alternatives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strncpy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snprintf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bounds checks in all input handlers.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modern heap protection techniques: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ASLR, DEP, Safe unlinking, Canaries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Prefer memory-safe languages when possible (Rust, Go).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05695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0532F467-8DBE-D445-0CF7-D5D242DAD66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8200" y="1801520"/>
            <a:ext cx="1865376" cy="3559118"/>
          </a:xfrm>
        </p:spPr>
        <p:txBody>
          <a:bodyPr/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heap overflow exploit adapted for modern usage.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ACB9342-C47E-6729-46BE-F10DBB78182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50465" y="1806716"/>
            <a:ext cx="1867186" cy="3553921"/>
          </a:xfrm>
        </p:spPr>
        <p:txBody>
          <a:bodyPr/>
          <a:lstStyle/>
          <a:p>
            <a:r>
              <a:rPr lang="en-US" sz="2400" dirty="0"/>
              <a:t>Full control over server memory through crafted REKE input.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DCD388C-8374-D810-DCE5-554B7E05F55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096000" y="1769775"/>
            <a:ext cx="2540277" cy="3590862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Exploit chain required: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Static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Heap manipulation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Runtime debugging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Payload construction</a:t>
            </a:r>
          </a:p>
          <a:p>
            <a:endParaRPr lang="en-US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E62055F1-67DB-9D6D-ABE2-20C3B2514A4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14626" y="1801520"/>
            <a:ext cx="1865376" cy="3559117"/>
          </a:xfrm>
        </p:spPr>
        <p:txBody>
          <a:bodyPr/>
          <a:lstStyle/>
          <a:p>
            <a:r>
              <a:rPr lang="en-US" sz="2400" dirty="0"/>
              <a:t>Successfully demonstrated a practical memory corruption exploit.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D68CE-EF5C-4046-41F5-3763D028DAE5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7183-3EBB-B8D1-A66D-964D3C3A7DA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287</TotalTime>
  <Words>803</Words>
  <Application>Microsoft Office PowerPoint</Application>
  <PresentationFormat>Widescreen</PresentationFormat>
  <Paragraphs>138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等线</vt:lpstr>
      <vt:lpstr>Arial</vt:lpstr>
      <vt:lpstr>Times New Roman</vt:lpstr>
      <vt:lpstr>Custom​​</vt:lpstr>
      <vt:lpstr>KHP Protocol (Pwn)</vt:lpstr>
      <vt:lpstr>Introduction &amp; Project Motivation</vt:lpstr>
      <vt:lpstr>Binary Analysis: Ghidra – Reverse engineering to explore khp_server behavior Exploit Development: Python + pwntools – Automates the exploit chain Heap Debugging: GDB with custom heap visualization. Testing Platform: Kali Linux &amp; Parrot Additional Tools: netcat for manual command tests, hexdump for payload crafting</vt:lpstr>
      <vt:lpstr>KHP Server Architecture</vt:lpstr>
      <vt:lpstr>Understanding Heap Behavior &amp; Heap Layout Manipulation</vt:lpstr>
      <vt:lpstr>PowerPoint Presentation</vt:lpstr>
      <vt:lpstr>PowerPoint Presentation</vt:lpstr>
      <vt:lpstr>Vulnerability Discovery</vt:lpstr>
      <vt:lpstr>PowerPoint Presentation</vt:lpstr>
      <vt:lpstr>Crafting the Exploit Payload</vt:lpstr>
      <vt:lpstr> Establish TCP connection to the server. Register 3 normal keys. Delete 3rd key → creates hole in heap. Send crafted overflow payload with fake metadata. Authenticate using corrupted key ID (often key 1). If successful, send EXEC to obtain interactive shell. </vt:lpstr>
      <vt:lpstr>Code Structure &amp; Debugging the Heap</vt:lpstr>
      <vt:lpstr>PowerPoint Presentation</vt:lpstr>
      <vt:lpstr>PowerPoint Presentation</vt:lpstr>
      <vt:lpstr>Impact &amp; Exploit Success</vt:lpstr>
      <vt:lpstr>Security Implications &amp; Preventive Measures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Charitha Bandaru</dc:creator>
  <cp:lastModifiedBy>Ananthaneni, Shajith Vignesh</cp:lastModifiedBy>
  <cp:revision>3</cp:revision>
  <dcterms:created xsi:type="dcterms:W3CDTF">2025-04-24T18:55:10Z</dcterms:created>
  <dcterms:modified xsi:type="dcterms:W3CDTF">2025-04-26T02:02:13Z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